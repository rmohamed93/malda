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
  </p:notesMasterIdLst>
  <p:sldIdLst>
    <p:sldId id="257" r:id="rId2"/>
  </p:sldIdLst>
  <p:sldSz cx="38404800" cy="384048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7CA3"/>
    <a:srgbClr val="A358AD"/>
    <a:srgbClr val="3A0786"/>
    <a:srgbClr val="BB1C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A31EDC-5230-4A1B-B7F2-F0F25A49D3AF}" v="14" dt="2026-04-03T16:30:06.8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6" d="100"/>
          <a:sy n="16" d="100"/>
        </p:scale>
        <p:origin x="189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ED9595-0AE4-4B15-B393-D0F1DD0EB94B}" type="datetimeFigureOut">
              <a:rPr lang="en-US" smtClean="0"/>
              <a:t>4/3/2026</a:t>
            </a:fld>
            <a:endParaRPr lang="en-US"/>
          </a:p>
        </p:txBody>
      </p:sp>
      <p:sp>
        <p:nvSpPr>
          <p:cNvPr id="4" name="Slide Image Placeholder 3"/>
          <p:cNvSpPr>
            <a:spLocks noGrp="1" noRot="1" noChangeAspect="1"/>
          </p:cNvSpPr>
          <p:nvPr>
            <p:ph type="sldImg" idx="2"/>
          </p:nvPr>
        </p:nvSpPr>
        <p:spPr>
          <a:xfrm>
            <a:off x="1885950" y="1143000"/>
            <a:ext cx="30861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25C3F-4975-439A-8DC6-D347DA98E7F9}" type="slidenum">
              <a:rPr lang="en-US" smtClean="0"/>
              <a:t>‹#›</a:t>
            </a:fld>
            <a:endParaRPr lang="en-US"/>
          </a:p>
        </p:txBody>
      </p:sp>
    </p:spTree>
    <p:extLst>
      <p:ext uri="{BB962C8B-B14F-4D97-AF65-F5344CB8AC3E}">
        <p14:creationId xmlns:p14="http://schemas.microsoft.com/office/powerpoint/2010/main" val="3463055927"/>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85950" y="1143000"/>
            <a:ext cx="30861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25C3F-4975-439A-8DC6-D347DA98E7F9}" type="slidenum">
              <a:rPr lang="en-US" smtClean="0"/>
              <a:t>1</a:t>
            </a:fld>
            <a:endParaRPr lang="en-US"/>
          </a:p>
        </p:txBody>
      </p:sp>
    </p:spTree>
    <p:extLst>
      <p:ext uri="{BB962C8B-B14F-4D97-AF65-F5344CB8AC3E}">
        <p14:creationId xmlns:p14="http://schemas.microsoft.com/office/powerpoint/2010/main" val="4135253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6285233"/>
            <a:ext cx="32644080" cy="13370560"/>
          </a:xfrm>
        </p:spPr>
        <p:txBody>
          <a:bodyPr anchor="b"/>
          <a:lstStyle>
            <a:lvl1pPr algn="ctr">
              <a:defRPr sz="25200"/>
            </a:lvl1pPr>
          </a:lstStyle>
          <a:p>
            <a:r>
              <a:rPr lang="en-US"/>
              <a:t>Click to edit Master title style</a:t>
            </a:r>
            <a:endParaRPr lang="en-US" dirty="0"/>
          </a:p>
        </p:txBody>
      </p:sp>
      <p:sp>
        <p:nvSpPr>
          <p:cNvPr id="3" name="Subtitle 2"/>
          <p:cNvSpPr>
            <a:spLocks noGrp="1"/>
          </p:cNvSpPr>
          <p:nvPr>
            <p:ph type="subTitle" idx="1"/>
          </p:nvPr>
        </p:nvSpPr>
        <p:spPr>
          <a:xfrm>
            <a:off x="4800600" y="20171413"/>
            <a:ext cx="28803600" cy="9272267"/>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478697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030533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9574541"/>
            <a:ext cx="33124140" cy="15975327"/>
          </a:xfrm>
        </p:spPr>
        <p:txBody>
          <a:bodyPr anchor="b"/>
          <a:lstStyle>
            <a:lvl1pPr>
              <a:defRPr sz="25200"/>
            </a:lvl1pPr>
          </a:lstStyle>
          <a:p>
            <a:r>
              <a:rPr lang="en-US"/>
              <a:t>Click to edit Master title style</a:t>
            </a:r>
            <a:endParaRPr lang="en-US" dirty="0"/>
          </a:p>
        </p:txBody>
      </p:sp>
      <p:sp>
        <p:nvSpPr>
          <p:cNvPr id="3" name="Text Placeholder 2"/>
          <p:cNvSpPr>
            <a:spLocks noGrp="1"/>
          </p:cNvSpPr>
          <p:nvPr>
            <p:ph type="body" idx="1"/>
          </p:nvPr>
        </p:nvSpPr>
        <p:spPr>
          <a:xfrm>
            <a:off x="2620330" y="25701001"/>
            <a:ext cx="33124140" cy="8401047"/>
          </a:xfrm>
        </p:spPr>
        <p:txBody>
          <a:bodyPr/>
          <a:lstStyle>
            <a:lvl1pPr marL="0" indent="0">
              <a:buNone/>
              <a:defRPr sz="10080">
                <a:solidFill>
                  <a:schemeClr val="tx1"/>
                </a:solidFill>
              </a:defRPr>
            </a:lvl1pPr>
            <a:lvl2pPr marL="1920240" indent="0">
              <a:buNone/>
              <a:defRPr sz="8400">
                <a:solidFill>
                  <a:schemeClr val="tx1">
                    <a:tint val="75000"/>
                  </a:schemeClr>
                </a:solidFill>
              </a:defRPr>
            </a:lvl2pPr>
            <a:lvl3pPr marL="3840480" indent="0">
              <a:buNone/>
              <a:defRPr sz="7560">
                <a:solidFill>
                  <a:schemeClr val="tx1">
                    <a:tint val="75000"/>
                  </a:schemeClr>
                </a:solidFill>
              </a:defRPr>
            </a:lvl3pPr>
            <a:lvl4pPr marL="5760720" indent="0">
              <a:buNone/>
              <a:defRPr sz="6720">
                <a:solidFill>
                  <a:schemeClr val="tx1">
                    <a:tint val="75000"/>
                  </a:schemeClr>
                </a:solidFill>
              </a:defRPr>
            </a:lvl4pPr>
            <a:lvl5pPr marL="7680960" indent="0">
              <a:buNone/>
              <a:defRPr sz="6720">
                <a:solidFill>
                  <a:schemeClr val="tx1">
                    <a:tint val="75000"/>
                  </a:schemeClr>
                </a:solidFill>
              </a:defRPr>
            </a:lvl5pPr>
            <a:lvl6pPr marL="9601200" indent="0">
              <a:buNone/>
              <a:defRPr sz="6720">
                <a:solidFill>
                  <a:schemeClr val="tx1">
                    <a:tint val="75000"/>
                  </a:schemeClr>
                </a:solidFill>
              </a:defRPr>
            </a:lvl6pPr>
            <a:lvl7pPr marL="11521440" indent="0">
              <a:buNone/>
              <a:defRPr sz="6720">
                <a:solidFill>
                  <a:schemeClr val="tx1">
                    <a:tint val="75000"/>
                  </a:schemeClr>
                </a:solidFill>
              </a:defRPr>
            </a:lvl7pPr>
            <a:lvl8pPr marL="13441680" indent="0">
              <a:buNone/>
              <a:defRPr sz="6720">
                <a:solidFill>
                  <a:schemeClr val="tx1">
                    <a:tint val="75000"/>
                  </a:schemeClr>
                </a:solidFill>
              </a:defRPr>
            </a:lvl8pPr>
            <a:lvl9pPr marL="1536192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C03D7F-B796-4B92-B0C7-6D4C9CC8C787}"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580593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6403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94424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C03D7F-B796-4B92-B0C7-6D4C9CC8C787}"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724818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044708"/>
            <a:ext cx="33124140" cy="74231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45336" y="9414513"/>
            <a:ext cx="16247028"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4028420"/>
            <a:ext cx="16247028"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9442432" y="9414513"/>
            <a:ext cx="16327042"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4028420"/>
            <a:ext cx="16327042"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C03D7F-B796-4B92-B0C7-6D4C9CC8C787}" type="datetimeFigureOut">
              <a:rPr lang="en-US" smtClean="0"/>
              <a:t>4/3/2026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238077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C03D7F-B796-4B92-B0C7-6D4C9CC8C787}" type="datetimeFigureOut">
              <a:rPr lang="en-US" smtClean="0"/>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992770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03D7F-B796-4B92-B0C7-6D4C9CC8C787}" type="datetimeFigureOut">
              <a:rPr lang="en-US" smtClean="0"/>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797709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Content Placeholder 2"/>
          <p:cNvSpPr>
            <a:spLocks noGrp="1"/>
          </p:cNvSpPr>
          <p:nvPr>
            <p:ph idx="1"/>
          </p:nvPr>
        </p:nvSpPr>
        <p:spPr>
          <a:xfrm>
            <a:off x="16327042" y="5529588"/>
            <a:ext cx="19442430" cy="27292300"/>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41C03D7F-B796-4B92-B0C7-6D4C9CC8C787}"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65655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6327042" y="5529588"/>
            <a:ext cx="19442430" cy="27292300"/>
          </a:xfrm>
        </p:spPr>
        <p:txBody>
          <a:bodyPr anchor="t"/>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41C03D7F-B796-4B92-B0C7-6D4C9CC8C787}"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368644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4234349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2044700"/>
            <a:ext cx="8281035" cy="3254629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640332" y="2044700"/>
            <a:ext cx="24363045" cy="325462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057291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40330" y="2044708"/>
            <a:ext cx="33124140" cy="742315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640330" y="10223500"/>
            <a:ext cx="33124140" cy="243674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40330" y="35595568"/>
            <a:ext cx="8641080" cy="2044700"/>
          </a:xfrm>
          <a:prstGeom prst="rect">
            <a:avLst/>
          </a:prstGeom>
        </p:spPr>
        <p:txBody>
          <a:bodyPr vert="horz" lIns="91440" tIns="45720" rIns="91440" bIns="45720" rtlCol="0" anchor="ctr"/>
          <a:lstStyle>
            <a:lvl1pPr algn="l">
              <a:defRPr sz="5040">
                <a:solidFill>
                  <a:schemeClr val="tx1">
                    <a:tint val="75000"/>
                  </a:schemeClr>
                </a:solidFill>
              </a:defRPr>
            </a:lvl1pPr>
          </a:lstStyle>
          <a:p>
            <a:fld id="{41C03D7F-B796-4B92-B0C7-6D4C9CC8C787}" type="datetimeFigureOut">
              <a:rPr lang="en-US" smtClean="0"/>
              <a:t>4/3/2026</a:t>
            </a:fld>
            <a:endParaRPr lang="en-US"/>
          </a:p>
        </p:txBody>
      </p:sp>
      <p:sp>
        <p:nvSpPr>
          <p:cNvPr id="5" name="Footer Placeholder 4"/>
          <p:cNvSpPr>
            <a:spLocks noGrp="1"/>
          </p:cNvSpPr>
          <p:nvPr>
            <p:ph type="ftr" sz="quarter" idx="3"/>
          </p:nvPr>
        </p:nvSpPr>
        <p:spPr>
          <a:xfrm>
            <a:off x="12721590" y="35595568"/>
            <a:ext cx="12961620" cy="2044700"/>
          </a:xfrm>
          <a:prstGeom prst="rect">
            <a:avLst/>
          </a:prstGeom>
        </p:spPr>
        <p:txBody>
          <a:bodyPr vert="horz" lIns="91440" tIns="45720" rIns="91440" bIns="45720" rtlCol="0" anchor="ctr"/>
          <a:lstStyle>
            <a:lvl1pPr algn="ctr">
              <a:defRPr sz="50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7123390" y="35595568"/>
            <a:ext cx="8641080" cy="2044700"/>
          </a:xfrm>
          <a:prstGeom prst="rect">
            <a:avLst/>
          </a:prstGeom>
        </p:spPr>
        <p:txBody>
          <a:bodyPr vert="horz" lIns="91440" tIns="45720" rIns="91440" bIns="45720" rtlCol="0" anchor="ctr"/>
          <a:lstStyle>
            <a:lvl1pPr algn="r">
              <a:defRPr sz="5040">
                <a:solidFill>
                  <a:schemeClr val="tx1">
                    <a:tint val="75000"/>
                  </a:schemeClr>
                </a:solidFill>
              </a:defRPr>
            </a:lvl1pPr>
          </a:lstStyle>
          <a:p>
            <a:fld id="{93FD920E-2A97-48E1-B2D4-DF17E46EF288}" type="slidenum">
              <a:rPr lang="en-US" smtClean="0"/>
              <a:t>‹#›</a:t>
            </a:fld>
            <a:endParaRPr lang="en-US"/>
          </a:p>
        </p:txBody>
      </p:sp>
    </p:spTree>
    <p:extLst>
      <p:ext uri="{BB962C8B-B14F-4D97-AF65-F5344CB8AC3E}">
        <p14:creationId xmlns:p14="http://schemas.microsoft.com/office/powerpoint/2010/main" val="211420943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code.visualstudio.com/" TargetMode="External"/><Relationship Id="rId13" Type="http://schemas.openxmlformats.org/officeDocument/2006/relationships/image" Target="../media/image4.jpeg"/><Relationship Id="rId1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hyperlink" Target="https://unity.com/" TargetMode="External"/><Relationship Id="rId12" Type="http://schemas.openxmlformats.org/officeDocument/2006/relationships/image" Target="../media/image3.jpg"/><Relationship Id="rId17" Type="http://schemas.openxmlformats.org/officeDocument/2006/relationships/image" Target="../media/image8.png"/><Relationship Id="rId2" Type="http://schemas.openxmlformats.org/officeDocument/2006/relationships/notesSlide" Target="../notesSlides/notesSlide1.xml"/><Relationship Id="rId16"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hyperlink" Target="https://youtube.com/" TargetMode="External"/><Relationship Id="rId11" Type="http://schemas.openxmlformats.org/officeDocument/2006/relationships/image" Target="../media/image2.png"/><Relationship Id="rId5" Type="http://schemas.openxmlformats.org/officeDocument/2006/relationships/hyperlink" Target="https://procreate.com/" TargetMode="External"/><Relationship Id="rId15" Type="http://schemas.openxmlformats.org/officeDocument/2006/relationships/image" Target="../media/image6.jpeg"/><Relationship Id="rId10" Type="http://schemas.openxmlformats.org/officeDocument/2006/relationships/hyperlink" Target="https://discord.com/" TargetMode="External"/><Relationship Id="rId4" Type="http://schemas.openxmlformats.org/officeDocument/2006/relationships/hyperlink" Target="https://craftpix.net/" TargetMode="External"/><Relationship Id="rId9" Type="http://schemas.openxmlformats.org/officeDocument/2006/relationships/hyperlink" Target="https://github.com/" TargetMode="External"/><Relationship Id="rId1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1371600" y="7315200"/>
            <a:ext cx="7543800" cy="1111073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600" dirty="0"/>
              <a:t>Malda is a 2D Puzzle-Platforming game that sees players navigate platforms, fight enemies, and overcome obstacles to reach their goal. The game will hold 6 playable levels. Upon completing a level, players will be awarded a new item to help them continue their journey. Some levels require items from previous levels to be completed. Levels may include optional portions that require items from later in the game to discover. Malda will feature a minimalistic pixel art style.</a:t>
            </a:r>
          </a:p>
          <a:p>
            <a:pPr algn="just"/>
            <a:endParaRPr lang="en-US" sz="3200" dirty="0"/>
          </a:p>
          <a:p>
            <a:pPr algn="just"/>
            <a:r>
              <a:rPr lang="en-US" sz="3600" dirty="0"/>
              <a:t>Malda players will need to be creative with their use of items, sometimes in combination with each other, in order to succeed. As players make it further in the game, they will find their technical platforming skills tested.</a:t>
            </a:r>
          </a:p>
        </p:txBody>
      </p:sp>
      <p:sp>
        <p:nvSpPr>
          <p:cNvPr id="42" name="TextBox 41"/>
          <p:cNvSpPr txBox="1"/>
          <p:nvPr/>
        </p:nvSpPr>
        <p:spPr>
          <a:xfrm>
            <a:off x="1371600" y="6400800"/>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Abstract</a:t>
            </a:r>
          </a:p>
        </p:txBody>
      </p:sp>
      <p:sp>
        <p:nvSpPr>
          <p:cNvPr id="9" name="TextBox 8"/>
          <p:cNvSpPr txBox="1"/>
          <p:nvPr/>
        </p:nvSpPr>
        <p:spPr>
          <a:xfrm>
            <a:off x="7772400" y="914400"/>
            <a:ext cx="22860000" cy="1446550"/>
          </a:xfrm>
          <a:prstGeom prst="rect">
            <a:avLst/>
          </a:prstGeom>
          <a:solidFill>
            <a:schemeClr val="bg1"/>
          </a:solidFill>
        </p:spPr>
        <p:txBody>
          <a:bodyPr wrap="square" rtlCol="0">
            <a:spAutoFit/>
          </a:bodyPr>
          <a:lstStyle/>
          <a:p>
            <a:pPr algn="ctr"/>
            <a:r>
              <a:rPr lang="en-US" sz="8800" b="1" spc="600" dirty="0">
                <a:ln w="38100">
                  <a:solidFill>
                    <a:srgbClr val="A358AD"/>
                  </a:solidFill>
                </a:ln>
                <a:solidFill>
                  <a:srgbClr val="127CA3"/>
                </a:solidFill>
                <a:effectLst>
                  <a:glow rad="139700">
                    <a:schemeClr val="accent4">
                      <a:lumMod val="60000"/>
                      <a:lumOff val="40000"/>
                      <a:alpha val="40000"/>
                    </a:schemeClr>
                  </a:glow>
                  <a:outerShdw blurRad="50800" dist="38100" dir="2700000" algn="tl" rotWithShape="0">
                    <a:prstClr val="black">
                      <a:alpha val="40000"/>
                    </a:prstClr>
                  </a:outerShdw>
                </a:effectLst>
                <a:latin typeface="Gill Sans Ultra Bold" panose="020B0A02020104020203" pitchFamily="34" charset="0"/>
              </a:rPr>
              <a:t>MALDA</a:t>
            </a:r>
          </a:p>
        </p:txBody>
      </p:sp>
      <p:sp>
        <p:nvSpPr>
          <p:cNvPr id="11" name="TextBox 10"/>
          <p:cNvSpPr txBox="1"/>
          <p:nvPr/>
        </p:nvSpPr>
        <p:spPr>
          <a:xfrm>
            <a:off x="7772400" y="2543144"/>
            <a:ext cx="22860000" cy="923330"/>
          </a:xfrm>
          <a:prstGeom prst="rect">
            <a:avLst/>
          </a:prstGeom>
          <a:noFill/>
        </p:spPr>
        <p:txBody>
          <a:bodyPr wrap="square" rtlCol="0">
            <a:spAutoFit/>
          </a:bodyPr>
          <a:lstStyle/>
          <a:p>
            <a:pPr algn="ctr"/>
            <a:r>
              <a:rPr lang="en-US" sz="5400" dirty="0"/>
              <a:t>Anthony Chapman, Eric Moore, Noah </a:t>
            </a:r>
            <a:r>
              <a:rPr lang="en-US" sz="5400" dirty="0" err="1"/>
              <a:t>Turrock</a:t>
            </a:r>
            <a:r>
              <a:rPr lang="en-US" sz="5400" dirty="0"/>
              <a:t>, Rachel Mohamed</a:t>
            </a:r>
          </a:p>
        </p:txBody>
      </p:sp>
      <p:sp>
        <p:nvSpPr>
          <p:cNvPr id="33" name="TextBox 32">
            <a:extLst>
              <a:ext uri="{FF2B5EF4-FFF2-40B4-BE49-F238E27FC236}">
                <a16:creationId xmlns:a16="http://schemas.microsoft.com/office/drawing/2014/main" id="{131E4EA6-E914-104F-AF0A-B617E4CD864C}"/>
              </a:ext>
            </a:extLst>
          </p:cNvPr>
          <p:cNvSpPr txBox="1"/>
          <p:nvPr/>
        </p:nvSpPr>
        <p:spPr>
          <a:xfrm>
            <a:off x="7772400" y="3730135"/>
            <a:ext cx="22860000" cy="923330"/>
          </a:xfrm>
          <a:prstGeom prst="rect">
            <a:avLst/>
          </a:prstGeom>
          <a:noFill/>
        </p:spPr>
        <p:txBody>
          <a:bodyPr wrap="square" rtlCol="0">
            <a:spAutoFit/>
          </a:bodyPr>
          <a:lstStyle/>
          <a:p>
            <a:pPr algn="ctr"/>
            <a:r>
              <a:rPr lang="en-US" sz="5400" dirty="0"/>
              <a:t>Dept. Of Computer Science and Information Technology</a:t>
            </a:r>
          </a:p>
        </p:txBody>
      </p:sp>
      <p:sp>
        <p:nvSpPr>
          <p:cNvPr id="15" name="Rectangle 14">
            <a:extLst>
              <a:ext uri="{FF2B5EF4-FFF2-40B4-BE49-F238E27FC236}">
                <a16:creationId xmlns:a16="http://schemas.microsoft.com/office/drawing/2014/main" id="{6EE72D31-CE3C-4643-BFC4-AB5A67F9691D}"/>
              </a:ext>
            </a:extLst>
          </p:cNvPr>
          <p:cNvSpPr/>
          <p:nvPr/>
        </p:nvSpPr>
        <p:spPr>
          <a:xfrm>
            <a:off x="0" y="0"/>
            <a:ext cx="38404800" cy="548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10;&#10;Description automatically generated">
            <a:extLst>
              <a:ext uri="{FF2B5EF4-FFF2-40B4-BE49-F238E27FC236}">
                <a16:creationId xmlns:a16="http://schemas.microsoft.com/office/drawing/2014/main" id="{57AC0E8A-34ED-EB42-BEC4-C70D0F19E8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1600" y="914400"/>
            <a:ext cx="6126480" cy="3658870"/>
          </a:xfrm>
          <a:prstGeom prst="rect">
            <a:avLst/>
          </a:prstGeom>
        </p:spPr>
      </p:pic>
      <p:sp>
        <p:nvSpPr>
          <p:cNvPr id="50" name="TextBox 49">
            <a:extLst>
              <a:ext uri="{FF2B5EF4-FFF2-40B4-BE49-F238E27FC236}">
                <a16:creationId xmlns:a16="http://schemas.microsoft.com/office/drawing/2014/main" id="{D52D404C-22B6-5E44-8D47-70D924BED731}"/>
              </a:ext>
            </a:extLst>
          </p:cNvPr>
          <p:cNvSpPr txBox="1"/>
          <p:nvPr/>
        </p:nvSpPr>
        <p:spPr>
          <a:xfrm>
            <a:off x="10744200" y="7315200"/>
            <a:ext cx="7543800" cy="172662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600" dirty="0"/>
              <a:t>Malda will be developed through Unity, a full-fledged platform for creating 2D and 3D video games and applications with C# programming language. </a:t>
            </a:r>
          </a:p>
          <a:p>
            <a:pPr algn="just"/>
            <a:endParaRPr lang="en-US" sz="3600" dirty="0"/>
          </a:p>
          <a:p>
            <a:pPr algn="just"/>
            <a:r>
              <a:rPr lang="en-US" sz="3600" dirty="0"/>
              <a:t>Our code will be edited using Microsoft Visual Studio Code, which is another development platform that is capable of using a wide range of plugins and programming languages.</a:t>
            </a:r>
          </a:p>
          <a:p>
            <a:pPr algn="just"/>
            <a:endParaRPr lang="en-US" sz="3600" dirty="0"/>
          </a:p>
          <a:p>
            <a:pPr algn="just"/>
            <a:r>
              <a:rPr lang="en-US" sz="3600" dirty="0"/>
              <a:t>Team members will  be collaborating using </a:t>
            </a:r>
            <a:r>
              <a:rPr lang="en-US" sz="3600" dirty="0" err="1"/>
              <a:t>Github</a:t>
            </a:r>
            <a:r>
              <a:rPr lang="en-US" sz="3600" dirty="0"/>
              <a:t>, Git, and </a:t>
            </a:r>
            <a:r>
              <a:rPr lang="en-US" sz="3600" dirty="0" err="1"/>
              <a:t>GitDesktop</a:t>
            </a:r>
            <a:r>
              <a:rPr lang="en-US" sz="3600" dirty="0"/>
              <a:t>; A developer platform used to consolidate project adjustments and changes made by each team member for ease of development.</a:t>
            </a:r>
          </a:p>
          <a:p>
            <a:pPr algn="just"/>
            <a:endParaRPr lang="en-US" sz="3600" dirty="0"/>
          </a:p>
          <a:p>
            <a:pPr algn="just"/>
            <a:r>
              <a:rPr lang="en-US" sz="3600" dirty="0"/>
              <a:t>Our team uses the social media platform Discord in order to effectively communicate any ideas or changes regarding the project.</a:t>
            </a:r>
          </a:p>
          <a:p>
            <a:pPr algn="just"/>
            <a:endParaRPr lang="en-US" sz="3600" dirty="0"/>
          </a:p>
          <a:p>
            <a:pPr algn="just"/>
            <a:r>
              <a:rPr lang="en-US" sz="3600" dirty="0"/>
              <a:t>Google Gemini is an artificial intelligence tool that can be used for a variety of purposes, including image generating and chiptune themed sound development.</a:t>
            </a:r>
          </a:p>
          <a:p>
            <a:pPr algn="just"/>
            <a:endParaRPr lang="en-US" sz="3600" dirty="0"/>
          </a:p>
          <a:p>
            <a:pPr algn="just"/>
            <a:r>
              <a:rPr lang="en-US" sz="3600" dirty="0"/>
              <a:t>Some images may be edited using Gimp, a free open-source image editor.</a:t>
            </a:r>
          </a:p>
        </p:txBody>
      </p:sp>
      <p:sp>
        <p:nvSpPr>
          <p:cNvPr id="51" name="TextBox 50">
            <a:extLst>
              <a:ext uri="{FF2B5EF4-FFF2-40B4-BE49-F238E27FC236}">
                <a16:creationId xmlns:a16="http://schemas.microsoft.com/office/drawing/2014/main" id="{5F260FA1-F34C-E848-8BF8-421439B9412C}"/>
              </a:ext>
            </a:extLst>
          </p:cNvPr>
          <p:cNvSpPr txBox="1"/>
          <p:nvPr/>
        </p:nvSpPr>
        <p:spPr>
          <a:xfrm>
            <a:off x="10744200" y="6400799"/>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Technology</a:t>
            </a:r>
          </a:p>
        </p:txBody>
      </p:sp>
      <p:sp>
        <p:nvSpPr>
          <p:cNvPr id="52" name="TextBox 51">
            <a:extLst>
              <a:ext uri="{FF2B5EF4-FFF2-40B4-BE49-F238E27FC236}">
                <a16:creationId xmlns:a16="http://schemas.microsoft.com/office/drawing/2014/main" id="{122B8F71-E134-414F-9A2A-89B6A9482606}"/>
              </a:ext>
            </a:extLst>
          </p:cNvPr>
          <p:cNvSpPr txBox="1"/>
          <p:nvPr/>
        </p:nvSpPr>
        <p:spPr>
          <a:xfrm>
            <a:off x="1428750" y="27822144"/>
            <a:ext cx="7543800" cy="895629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600" dirty="0"/>
              <a:t>Malda will be themed and designed as a 2D puzzle-platforming video game that takes in account a feel for nostalgia. The game itself will see 6 playable levels, each representing a different world attached to the Tree Of Life and housing different types of enemies.</a:t>
            </a:r>
          </a:p>
          <a:p>
            <a:pPr algn="just"/>
            <a:endParaRPr lang="en-US" sz="3600" dirty="0"/>
          </a:p>
          <a:p>
            <a:pPr algn="just"/>
            <a:r>
              <a:rPr lang="en-US" sz="3600" dirty="0"/>
              <a:t>All sound effects and background music will be following the chiptune genre.</a:t>
            </a:r>
          </a:p>
          <a:p>
            <a:pPr algn="just"/>
            <a:endParaRPr lang="en-US" sz="3600" dirty="0"/>
          </a:p>
          <a:p>
            <a:pPr algn="just"/>
            <a:r>
              <a:rPr lang="en-US" sz="3600" dirty="0"/>
              <a:t>Artwork comes from CraftPix.net, with some items being mildly modified and others being heavily modified to fit the theme of our game.</a:t>
            </a:r>
          </a:p>
        </p:txBody>
      </p:sp>
      <p:sp>
        <p:nvSpPr>
          <p:cNvPr id="53" name="TextBox 52">
            <a:extLst>
              <a:ext uri="{FF2B5EF4-FFF2-40B4-BE49-F238E27FC236}">
                <a16:creationId xmlns:a16="http://schemas.microsoft.com/office/drawing/2014/main" id="{9ADEE2E9-7AD4-AF4A-A8DE-2DD6E398169D}"/>
              </a:ext>
            </a:extLst>
          </p:cNvPr>
          <p:cNvSpPr txBox="1"/>
          <p:nvPr/>
        </p:nvSpPr>
        <p:spPr>
          <a:xfrm>
            <a:off x="1428750" y="26907744"/>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Design</a:t>
            </a:r>
          </a:p>
        </p:txBody>
      </p:sp>
      <p:sp>
        <p:nvSpPr>
          <p:cNvPr id="54" name="TextBox 53">
            <a:extLst>
              <a:ext uri="{FF2B5EF4-FFF2-40B4-BE49-F238E27FC236}">
                <a16:creationId xmlns:a16="http://schemas.microsoft.com/office/drawing/2014/main" id="{D25BFCBA-8F53-DD46-A2ED-0F4416500F31}"/>
              </a:ext>
            </a:extLst>
          </p:cNvPr>
          <p:cNvSpPr txBox="1"/>
          <p:nvPr/>
        </p:nvSpPr>
        <p:spPr>
          <a:xfrm>
            <a:off x="29489400" y="7278624"/>
            <a:ext cx="7543800" cy="1892825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600" dirty="0"/>
              <a:t>Currently, there is no definite agreement on whether to continue the work after the semester. However, it is not entirely ruled out either. </a:t>
            </a:r>
          </a:p>
          <a:p>
            <a:pPr algn="just"/>
            <a:endParaRPr lang="en-US" sz="3600" dirty="0"/>
          </a:p>
          <a:p>
            <a:pPr algn="just"/>
            <a:r>
              <a:rPr lang="en-US" sz="3600" dirty="0"/>
              <a:t>The universe of Malda is based on the tree of life. With respect to its philosophical, mythical, and religious history, there exists some ideas to add additional levels and tailor each level design based on what each focal point of the Tree Of Life represents. While our game aims for 6 levels in time for our senior project due date, the Tree Of Life holds anywhere from 7 to 11 focal-points, depending on which religion you reference from. Thus, the game will be entirely revamped and scaled to feel more like a full-bodied video game.</a:t>
            </a:r>
          </a:p>
          <a:p>
            <a:pPr algn="just"/>
            <a:endParaRPr lang="en-US" sz="3600" b="1" dirty="0"/>
          </a:p>
          <a:p>
            <a:pPr algn="just"/>
            <a:r>
              <a:rPr lang="en-US" sz="3600" dirty="0"/>
              <a:t>Further future development will require new techniques and feature implementations that otherwise did not make it in the final demo or presentation. This can include adding additional tools to the player arsenal and maneuverability within the game. </a:t>
            </a:r>
          </a:p>
          <a:p>
            <a:pPr algn="just"/>
            <a:endParaRPr lang="en-US" sz="3600" dirty="0"/>
          </a:p>
          <a:p>
            <a:pPr algn="just"/>
            <a:r>
              <a:rPr lang="en-US" sz="3600" dirty="0"/>
              <a:t>Additionally, artwork and soundtracks originally borrowed from </a:t>
            </a:r>
            <a:r>
              <a:rPr lang="en-US" sz="3600" dirty="0" err="1"/>
              <a:t>CraftPix</a:t>
            </a:r>
            <a:r>
              <a:rPr lang="en-US" sz="3600" dirty="0"/>
              <a:t> or created with the help of  generative AI will be redone to match the art and music style of the game as time becomes significantly more available. </a:t>
            </a:r>
          </a:p>
        </p:txBody>
      </p:sp>
      <p:sp>
        <p:nvSpPr>
          <p:cNvPr id="55" name="TextBox 54">
            <a:extLst>
              <a:ext uri="{FF2B5EF4-FFF2-40B4-BE49-F238E27FC236}">
                <a16:creationId xmlns:a16="http://schemas.microsoft.com/office/drawing/2014/main" id="{4168701F-1D5B-6345-99A6-4CEE0D810E8D}"/>
              </a:ext>
            </a:extLst>
          </p:cNvPr>
          <p:cNvSpPr txBox="1"/>
          <p:nvPr/>
        </p:nvSpPr>
        <p:spPr>
          <a:xfrm>
            <a:off x="29489400" y="6364223"/>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Future Work</a:t>
            </a:r>
          </a:p>
        </p:txBody>
      </p:sp>
      <p:sp>
        <p:nvSpPr>
          <p:cNvPr id="58" name="TextBox 57">
            <a:extLst>
              <a:ext uri="{FF2B5EF4-FFF2-40B4-BE49-F238E27FC236}">
                <a16:creationId xmlns:a16="http://schemas.microsoft.com/office/drawing/2014/main" id="{B4B17A3E-B8F5-AD47-BF90-C798FB9A5795}"/>
              </a:ext>
            </a:extLst>
          </p:cNvPr>
          <p:cNvSpPr txBox="1"/>
          <p:nvPr/>
        </p:nvSpPr>
        <p:spPr>
          <a:xfrm>
            <a:off x="1371600" y="18483797"/>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Story</a:t>
            </a:r>
          </a:p>
        </p:txBody>
      </p:sp>
      <p:sp>
        <p:nvSpPr>
          <p:cNvPr id="62" name="TextBox 61">
            <a:extLst>
              <a:ext uri="{FF2B5EF4-FFF2-40B4-BE49-F238E27FC236}">
                <a16:creationId xmlns:a16="http://schemas.microsoft.com/office/drawing/2014/main" id="{23E96BFD-241F-9947-B610-650FA9088939}"/>
              </a:ext>
            </a:extLst>
          </p:cNvPr>
          <p:cNvSpPr txBox="1"/>
          <p:nvPr/>
        </p:nvSpPr>
        <p:spPr>
          <a:xfrm>
            <a:off x="1371600" y="19551933"/>
            <a:ext cx="7543800" cy="674030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3600" dirty="0"/>
              <a:t>Malda, a being of the cosmos, has been sent to repair the connections between worlds, collectively known as the Tree of Life. There have been reports of 6 different worlds attached to these branches and roots, plunging into chaos as trickster beings have managed to mess with them. As you reach the center of the tree, you find it requires porthole keys to unlock your way to the next. Each key can be found inside the world you enter for each level.</a:t>
            </a:r>
          </a:p>
        </p:txBody>
      </p:sp>
      <p:sp>
        <p:nvSpPr>
          <p:cNvPr id="63" name="TextBox 62">
            <a:extLst>
              <a:ext uri="{FF2B5EF4-FFF2-40B4-BE49-F238E27FC236}">
                <a16:creationId xmlns:a16="http://schemas.microsoft.com/office/drawing/2014/main" id="{9A32D62A-0501-F949-A5B2-821CB6B360C1}"/>
              </a:ext>
            </a:extLst>
          </p:cNvPr>
          <p:cNvSpPr txBox="1"/>
          <p:nvPr/>
        </p:nvSpPr>
        <p:spPr>
          <a:xfrm>
            <a:off x="10744200" y="33731454"/>
            <a:ext cx="7543800" cy="255454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200" b="1" dirty="0">
                <a:solidFill>
                  <a:srgbClr val="BB1C3F"/>
                </a:solidFill>
              </a:rPr>
              <a:t>Figure 1: </a:t>
            </a:r>
            <a:r>
              <a:rPr lang="en-US" sz="3200" dirty="0">
                <a:solidFill>
                  <a:schemeClr val="tx1"/>
                </a:solidFill>
              </a:rPr>
              <a:t>The image above displays the level one’s basic enemy. Our first enemy is the Little Mushroom Guy and is a standard free-roaming creature that will charge at and attack the player if they get near enough.</a:t>
            </a:r>
          </a:p>
        </p:txBody>
      </p:sp>
      <p:sp>
        <p:nvSpPr>
          <p:cNvPr id="66" name="TextBox 65">
            <a:extLst>
              <a:ext uri="{FF2B5EF4-FFF2-40B4-BE49-F238E27FC236}">
                <a16:creationId xmlns:a16="http://schemas.microsoft.com/office/drawing/2014/main" id="{EC1F8AC7-7AEA-E74F-BE38-74113B20D5C9}"/>
              </a:ext>
            </a:extLst>
          </p:cNvPr>
          <p:cNvSpPr txBox="1"/>
          <p:nvPr/>
        </p:nvSpPr>
        <p:spPr>
          <a:xfrm>
            <a:off x="19820619" y="13728281"/>
            <a:ext cx="8368748" cy="156966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200" b="1" dirty="0">
                <a:solidFill>
                  <a:srgbClr val="BB1C3F"/>
                </a:solidFill>
              </a:rPr>
              <a:t>Figure 2: </a:t>
            </a:r>
            <a:r>
              <a:rPr lang="en-US" sz="3200" dirty="0"/>
              <a:t>Our video game will be playable on a windows 10 operating system or higher; Showing a temporary character for animation testing.</a:t>
            </a:r>
          </a:p>
        </p:txBody>
      </p:sp>
      <p:sp>
        <p:nvSpPr>
          <p:cNvPr id="67" name="TextBox 66">
            <a:extLst>
              <a:ext uri="{FF2B5EF4-FFF2-40B4-BE49-F238E27FC236}">
                <a16:creationId xmlns:a16="http://schemas.microsoft.com/office/drawing/2014/main" id="{8E91F93C-A7BD-B64A-849B-B4DA616BE3FB}"/>
              </a:ext>
            </a:extLst>
          </p:cNvPr>
          <p:cNvSpPr txBox="1"/>
          <p:nvPr/>
        </p:nvSpPr>
        <p:spPr>
          <a:xfrm>
            <a:off x="29489400" y="26910791"/>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References</a:t>
            </a:r>
          </a:p>
        </p:txBody>
      </p:sp>
      <p:sp>
        <p:nvSpPr>
          <p:cNvPr id="71" name="TextBox 70">
            <a:extLst>
              <a:ext uri="{FF2B5EF4-FFF2-40B4-BE49-F238E27FC236}">
                <a16:creationId xmlns:a16="http://schemas.microsoft.com/office/drawing/2014/main" id="{91F0780E-0709-FD48-B93E-B99DCFE28DBE}"/>
              </a:ext>
            </a:extLst>
          </p:cNvPr>
          <p:cNvSpPr txBox="1"/>
          <p:nvPr/>
        </p:nvSpPr>
        <p:spPr>
          <a:xfrm>
            <a:off x="29489400" y="27822144"/>
            <a:ext cx="7543800" cy="35394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514350" indent="-514350" algn="just">
              <a:buAutoNum type="arabicPeriod"/>
            </a:pPr>
            <a:r>
              <a:rPr lang="en-US" sz="3200" dirty="0"/>
              <a:t>Artwork: </a:t>
            </a:r>
            <a:r>
              <a:rPr lang="en-US" sz="3200" dirty="0">
                <a:hlinkClick r:id="rId4"/>
              </a:rPr>
              <a:t>https://craftpix.net/</a:t>
            </a:r>
            <a:r>
              <a:rPr lang="en-US" sz="3200" dirty="0"/>
              <a:t> </a:t>
            </a:r>
          </a:p>
          <a:p>
            <a:pPr marL="514350" indent="-514350" algn="just">
              <a:buAutoNum type="arabicPeriod"/>
            </a:pPr>
            <a:r>
              <a:rPr lang="en-US" sz="3200" dirty="0"/>
              <a:t>Design: </a:t>
            </a:r>
            <a:r>
              <a:rPr lang="en-US" sz="3200" dirty="0">
                <a:hlinkClick r:id="rId5"/>
              </a:rPr>
              <a:t>https://procreate.com/</a:t>
            </a:r>
            <a:r>
              <a:rPr lang="en-US" sz="3200" dirty="0"/>
              <a:t> </a:t>
            </a:r>
          </a:p>
          <a:p>
            <a:pPr marL="514350" indent="-514350" algn="just">
              <a:buAutoNum type="arabicPeriod"/>
            </a:pPr>
            <a:r>
              <a:rPr lang="en-US" sz="3200" dirty="0"/>
              <a:t>Tutorials: </a:t>
            </a:r>
            <a:r>
              <a:rPr lang="en-US" sz="3200" dirty="0">
                <a:hlinkClick r:id="rId6"/>
              </a:rPr>
              <a:t>https://youtube.com/</a:t>
            </a:r>
            <a:r>
              <a:rPr lang="en-US" sz="3200" dirty="0"/>
              <a:t>  </a:t>
            </a:r>
          </a:p>
          <a:p>
            <a:pPr marL="514350" indent="-514350" algn="just">
              <a:buAutoNum type="arabicPeriod"/>
            </a:pPr>
            <a:r>
              <a:rPr lang="en-US" sz="3200" dirty="0"/>
              <a:t>Development: </a:t>
            </a:r>
            <a:r>
              <a:rPr lang="en-US" sz="3200" dirty="0">
                <a:hlinkClick r:id="rId7"/>
              </a:rPr>
              <a:t>https://unity.com/</a:t>
            </a:r>
            <a:r>
              <a:rPr lang="en-US" sz="3200" dirty="0"/>
              <a:t> </a:t>
            </a:r>
          </a:p>
          <a:p>
            <a:pPr marL="514350" indent="-514350" algn="just">
              <a:buAutoNum type="arabicPeriod"/>
            </a:pPr>
            <a:r>
              <a:rPr lang="en-US" sz="3200" dirty="0"/>
              <a:t>Scripting: </a:t>
            </a:r>
            <a:r>
              <a:rPr lang="en-US" sz="3200" dirty="0">
                <a:hlinkClick r:id="rId8"/>
              </a:rPr>
              <a:t>https://code.visualstudio.com/</a:t>
            </a:r>
            <a:r>
              <a:rPr lang="en-US" sz="3200" dirty="0"/>
              <a:t> </a:t>
            </a:r>
          </a:p>
          <a:p>
            <a:pPr marL="514350" indent="-514350" algn="just">
              <a:buAutoNum type="arabicPeriod"/>
            </a:pPr>
            <a:r>
              <a:rPr lang="en-US" sz="3200" dirty="0"/>
              <a:t>Collaboration: </a:t>
            </a:r>
            <a:r>
              <a:rPr lang="en-US" sz="3200" dirty="0">
                <a:hlinkClick r:id="rId9"/>
              </a:rPr>
              <a:t>https://github.com/</a:t>
            </a:r>
            <a:r>
              <a:rPr lang="en-US" sz="3200" dirty="0"/>
              <a:t> </a:t>
            </a:r>
          </a:p>
          <a:p>
            <a:pPr marL="514350" indent="-514350" algn="just">
              <a:buAutoNum type="arabicPeriod"/>
            </a:pPr>
            <a:r>
              <a:rPr lang="en-US" sz="3200" dirty="0"/>
              <a:t>Communication: </a:t>
            </a:r>
            <a:r>
              <a:rPr lang="en-US" sz="3200" dirty="0">
                <a:hlinkClick r:id="rId10"/>
              </a:rPr>
              <a:t>https://discord.com/</a:t>
            </a:r>
            <a:r>
              <a:rPr lang="en-US" sz="3200" dirty="0"/>
              <a:t> </a:t>
            </a:r>
          </a:p>
        </p:txBody>
      </p:sp>
      <p:sp>
        <p:nvSpPr>
          <p:cNvPr id="72" name="TextBox 71">
            <a:extLst>
              <a:ext uri="{FF2B5EF4-FFF2-40B4-BE49-F238E27FC236}">
                <a16:creationId xmlns:a16="http://schemas.microsoft.com/office/drawing/2014/main" id="{5E014FC1-89AE-2C42-B656-71AC274FF794}"/>
              </a:ext>
            </a:extLst>
          </p:cNvPr>
          <p:cNvSpPr txBox="1"/>
          <p:nvPr/>
        </p:nvSpPr>
        <p:spPr>
          <a:xfrm>
            <a:off x="29489400" y="32497775"/>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Acknowledgements</a:t>
            </a:r>
          </a:p>
        </p:txBody>
      </p:sp>
      <p:sp>
        <p:nvSpPr>
          <p:cNvPr id="74" name="TextBox 73">
            <a:extLst>
              <a:ext uri="{FF2B5EF4-FFF2-40B4-BE49-F238E27FC236}">
                <a16:creationId xmlns:a16="http://schemas.microsoft.com/office/drawing/2014/main" id="{D3B353B1-5EC5-9B40-8654-50B3A5F38B70}"/>
              </a:ext>
            </a:extLst>
          </p:cNvPr>
          <p:cNvSpPr txBox="1"/>
          <p:nvPr/>
        </p:nvSpPr>
        <p:spPr>
          <a:xfrm>
            <a:off x="29413200" y="33371790"/>
            <a:ext cx="7543800" cy="35394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200" dirty="0"/>
              <a:t>We would like to thank Dr. Karen Meisch for her support of students in the College of Science, Technology, Engineering &amp; Mathematics, and Dr. Leong Lee for his support of students in the Department of Computer Science and Information Technology.</a:t>
            </a:r>
          </a:p>
        </p:txBody>
      </p:sp>
      <p:pic>
        <p:nvPicPr>
          <p:cNvPr id="76" name="Picture 75">
            <a:extLst>
              <a:ext uri="{FF2B5EF4-FFF2-40B4-BE49-F238E27FC236}">
                <a16:creationId xmlns:a16="http://schemas.microsoft.com/office/drawing/2014/main" id="{437D038A-EC4F-AB43-9790-21762BF482CC}"/>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29413200" y="807778"/>
            <a:ext cx="7543800" cy="4114799"/>
          </a:xfrm>
          <a:prstGeom prst="rect">
            <a:avLst/>
          </a:prstGeom>
        </p:spPr>
      </p:pic>
      <p:cxnSp>
        <p:nvCxnSpPr>
          <p:cNvPr id="78" name="Straight Connector 77">
            <a:extLst>
              <a:ext uri="{FF2B5EF4-FFF2-40B4-BE49-F238E27FC236}">
                <a16:creationId xmlns:a16="http://schemas.microsoft.com/office/drawing/2014/main" id="{13D3A641-3556-174E-81A8-FB2A256E9AF5}"/>
              </a:ext>
            </a:extLst>
          </p:cNvPr>
          <p:cNvCxnSpPr/>
          <p:nvPr/>
        </p:nvCxnSpPr>
        <p:spPr>
          <a:xfrm>
            <a:off x="1371600" y="5715000"/>
            <a:ext cx="356616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38BAACC-E642-FC1A-698B-0A430DD70FF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0744200" y="25468557"/>
            <a:ext cx="7543800" cy="7543800"/>
          </a:xfrm>
          <a:prstGeom prst="rect">
            <a:avLst/>
          </a:prstGeom>
        </p:spPr>
      </p:pic>
      <p:pic>
        <p:nvPicPr>
          <p:cNvPr id="6" name="Picture 5" descr="The image shows a laptop with a blank screen, ready to be used.&#10;&#10;AI-generated content may be incorrect.">
            <a:extLst>
              <a:ext uri="{FF2B5EF4-FFF2-40B4-BE49-F238E27FC236}">
                <a16:creationId xmlns:a16="http://schemas.microsoft.com/office/drawing/2014/main" id="{3B89B335-C5E3-6FAB-DD63-1A4BCBDB03D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9189700" y="7309481"/>
            <a:ext cx="9398000" cy="6096000"/>
          </a:xfrm>
          <a:prstGeom prst="rect">
            <a:avLst/>
          </a:prstGeom>
        </p:spPr>
      </p:pic>
      <p:pic>
        <p:nvPicPr>
          <p:cNvPr id="3" name="Picture 2" descr="The image depicts a transparent, sleek, handheld gaming controller with a blue and purple color scheme, featuring a circular design with a central button, and multiple input controls around the edges.&#10;&#10;AI-generated content may be incorrect.">
            <a:extLst>
              <a:ext uri="{FF2B5EF4-FFF2-40B4-BE49-F238E27FC236}">
                <a16:creationId xmlns:a16="http://schemas.microsoft.com/office/drawing/2014/main" id="{658B8FB4-6876-E74C-604D-AE14010566F2}"/>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0880805" y="21984695"/>
            <a:ext cx="6015789" cy="4812631"/>
          </a:xfrm>
          <a:prstGeom prst="rect">
            <a:avLst/>
          </a:prstGeom>
        </p:spPr>
      </p:pic>
      <p:pic>
        <p:nvPicPr>
          <p:cNvPr id="7" name="Picture 6">
            <a:extLst>
              <a:ext uri="{FF2B5EF4-FFF2-40B4-BE49-F238E27FC236}">
                <a16:creationId xmlns:a16="http://schemas.microsoft.com/office/drawing/2014/main" id="{A0B2F114-2071-17E8-719E-49617359D3ED}"/>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9189700" y="15903788"/>
            <a:ext cx="5928214" cy="3334621"/>
          </a:xfrm>
          <a:prstGeom prst="rect">
            <a:avLst/>
          </a:prstGeom>
        </p:spPr>
      </p:pic>
      <p:pic>
        <p:nvPicPr>
          <p:cNvPr id="10" name="Picture 9">
            <a:extLst>
              <a:ext uri="{FF2B5EF4-FFF2-40B4-BE49-F238E27FC236}">
                <a16:creationId xmlns:a16="http://schemas.microsoft.com/office/drawing/2014/main" id="{95E6B0BE-4194-5481-B234-7DEA7C5CDD1C}"/>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4899048" y="16151767"/>
            <a:ext cx="4095332" cy="3003244"/>
          </a:xfrm>
          <a:prstGeom prst="rect">
            <a:avLst/>
          </a:prstGeom>
        </p:spPr>
      </p:pic>
      <p:sp>
        <p:nvSpPr>
          <p:cNvPr id="14" name="TextBox 13">
            <a:extLst>
              <a:ext uri="{FF2B5EF4-FFF2-40B4-BE49-F238E27FC236}">
                <a16:creationId xmlns:a16="http://schemas.microsoft.com/office/drawing/2014/main" id="{42F99EFF-3E50-60BD-4A90-2577B46AC7D4}"/>
              </a:ext>
            </a:extLst>
          </p:cNvPr>
          <p:cNvSpPr txBox="1"/>
          <p:nvPr/>
        </p:nvSpPr>
        <p:spPr>
          <a:xfrm>
            <a:off x="20233093" y="19993021"/>
            <a:ext cx="7543800" cy="156966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200" b="1" dirty="0">
                <a:solidFill>
                  <a:srgbClr val="BB1C3F"/>
                </a:solidFill>
              </a:rPr>
              <a:t>Figure 3: </a:t>
            </a:r>
            <a:r>
              <a:rPr lang="en-US" sz="3200" dirty="0">
                <a:solidFill>
                  <a:schemeClr val="tx1"/>
                </a:solidFill>
              </a:rPr>
              <a:t>the above images showcase that our video game will have keyboard and mouse playability.</a:t>
            </a:r>
          </a:p>
        </p:txBody>
      </p:sp>
      <p:sp>
        <p:nvSpPr>
          <p:cNvPr id="17" name="TextBox 16">
            <a:extLst>
              <a:ext uri="{FF2B5EF4-FFF2-40B4-BE49-F238E27FC236}">
                <a16:creationId xmlns:a16="http://schemas.microsoft.com/office/drawing/2014/main" id="{08C77988-8AEE-A438-75A4-5BD007F7ECC1}"/>
              </a:ext>
            </a:extLst>
          </p:cNvPr>
          <p:cNvSpPr txBox="1"/>
          <p:nvPr/>
        </p:nvSpPr>
        <p:spPr>
          <a:xfrm>
            <a:off x="20233093" y="26580114"/>
            <a:ext cx="7543800" cy="156966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200" b="1" dirty="0">
                <a:solidFill>
                  <a:srgbClr val="BB1C3F"/>
                </a:solidFill>
              </a:rPr>
              <a:t>Figure 4: </a:t>
            </a:r>
            <a:r>
              <a:rPr lang="en-US" sz="3200" dirty="0">
                <a:solidFill>
                  <a:schemeClr val="tx1"/>
                </a:solidFill>
              </a:rPr>
              <a:t>the above image showcases that our video game will have controller support for playability.</a:t>
            </a:r>
          </a:p>
        </p:txBody>
      </p:sp>
      <p:pic>
        <p:nvPicPr>
          <p:cNvPr id="22" name="Picture 21" descr="The image depicts a pixelated character in a dark, mysterious blue hoodie, sitting motionless.&#10;&#10;AI-generated content may be incorrect.">
            <a:extLst>
              <a:ext uri="{FF2B5EF4-FFF2-40B4-BE49-F238E27FC236}">
                <a16:creationId xmlns:a16="http://schemas.microsoft.com/office/drawing/2014/main" id="{2EF71BA8-100F-F965-B14D-ACBE866D2534}"/>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7675660" y="28476828"/>
            <a:ext cx="8956293" cy="8956293"/>
          </a:xfrm>
          <a:prstGeom prst="rect">
            <a:avLst/>
          </a:prstGeom>
        </p:spPr>
      </p:pic>
      <p:sp>
        <p:nvSpPr>
          <p:cNvPr id="23" name="TextBox 22">
            <a:extLst>
              <a:ext uri="{FF2B5EF4-FFF2-40B4-BE49-F238E27FC236}">
                <a16:creationId xmlns:a16="http://schemas.microsoft.com/office/drawing/2014/main" id="{C2B456C1-6BA5-BDB5-A490-2E1B109997CB}"/>
              </a:ext>
            </a:extLst>
          </p:cNvPr>
          <p:cNvSpPr txBox="1"/>
          <p:nvPr/>
        </p:nvSpPr>
        <p:spPr>
          <a:xfrm>
            <a:off x="24632872" y="33864232"/>
            <a:ext cx="4074363" cy="255454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200" b="1" dirty="0">
                <a:solidFill>
                  <a:srgbClr val="BB1C3F"/>
                </a:solidFill>
              </a:rPr>
              <a:t>Figure 5: </a:t>
            </a:r>
            <a:r>
              <a:rPr lang="en-US" sz="3200" dirty="0">
                <a:solidFill>
                  <a:schemeClr val="tx1"/>
                </a:solidFill>
              </a:rPr>
              <a:t>This character is the original concept art of the character that you will play as throughout the game.</a:t>
            </a:r>
          </a:p>
        </p:txBody>
      </p:sp>
      <p:pic>
        <p:nvPicPr>
          <p:cNvPr id="12" name="Picture 11" descr="A lone white character stands in a grassy, open landscape with a clear blue sky and scattered clouds above.&#10;&#10;AI-generated content may be incorrect.">
            <a:extLst>
              <a:ext uri="{FF2B5EF4-FFF2-40B4-BE49-F238E27FC236}">
                <a16:creationId xmlns:a16="http://schemas.microsoft.com/office/drawing/2014/main" id="{BF4BE7FC-D287-70C3-5926-8EFE1650142B}"/>
              </a:ext>
            </a:extLst>
          </p:cNvPr>
          <p:cNvPicPr>
            <a:picLocks noChangeAspect="1"/>
          </p:cNvPicPr>
          <p:nvPr/>
        </p:nvPicPr>
        <p:blipFill>
          <a:blip r:embed="rId18"/>
          <a:stretch>
            <a:fillRect/>
          </a:stretch>
        </p:blipFill>
        <p:spPr>
          <a:xfrm>
            <a:off x="20028146" y="7572850"/>
            <a:ext cx="7710343" cy="4592976"/>
          </a:xfrm>
          <a:prstGeom prst="rect">
            <a:avLst/>
          </a:prstGeom>
        </p:spPr>
      </p:pic>
    </p:spTree>
    <p:extLst>
      <p:ext uri="{BB962C8B-B14F-4D97-AF65-F5344CB8AC3E}">
        <p14:creationId xmlns:p14="http://schemas.microsoft.com/office/powerpoint/2010/main" val="27096606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1783</TotalTime>
  <Words>922</Words>
  <Application>Microsoft Office PowerPoint</Application>
  <PresentationFormat>Custom</PresentationFormat>
  <Paragraphs>51</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Gill Sans Ultra Bold</vt:lpstr>
      <vt:lpstr>Office Theme</vt:lpstr>
      <vt:lpstr>PowerPoint Presentation</vt:lpstr>
    </vt:vector>
  </TitlesOfParts>
  <Company>UCLA Division of Undergraduate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Cruz, Diana</dc:creator>
  <cp:lastModifiedBy>Rachel Mohamed</cp:lastModifiedBy>
  <cp:revision>97</cp:revision>
  <cp:lastPrinted>2016-07-13T23:56:52Z</cp:lastPrinted>
  <dcterms:created xsi:type="dcterms:W3CDTF">2016-06-13T20:02:52Z</dcterms:created>
  <dcterms:modified xsi:type="dcterms:W3CDTF">2026-04-03T16:41:25Z</dcterms:modified>
</cp:coreProperties>
</file>